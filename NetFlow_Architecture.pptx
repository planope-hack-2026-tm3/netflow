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7EA0">
              <a:alpha val="20000"/>
            </a:srgbClr>
          </a:solidFill>
          <a:ln w="12700">
            <a:solidFill>
              <a:srgbClr val="0D7EA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14B8D4">
              <a:alpha val="15000"/>
            </a:srgbClr>
          </a:solidFill>
          <a:ln w="12700">
            <a:solidFill>
              <a:srgbClr val="14B8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73152" cy="2011680"/>
          </a:xfrm>
          <a:prstGeom prst="rect">
            <a:avLst/>
          </a:prstGeom>
          <a:solidFill>
            <a:srgbClr val="14B8D4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Engineering Reference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net. Grow your portfolio.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1920240" cy="868680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776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3977640"/>
            <a:ext cx="1920240" cy="868680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9776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search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3977640"/>
            <a:ext cx="1920240" cy="868680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9776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target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3977640"/>
            <a:ext cx="1920240" cy="868680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39776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4944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properties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NetFlow?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 accepts a free-form prompt or structured query and returns the top 10 investment-ready properties ranked by AI-derived score — with deterministic financial metrics, risk profiles, and a streaming market narrative.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 — Long-Term Rental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— Short-Term / Airbnb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BRRRR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896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344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· Budget · Beds · Strategy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12280" y="82296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896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0372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llama3.1:8b + rule fallback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22402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2807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 · Cash flow · GRM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22402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2807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defense · 25 injection regexes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365760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6344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RentCast listings · FRED mortgage rates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365760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0372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0372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 + feedback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834640" y="777240"/>
            <a:ext cx="3474720" cy="621792"/>
          </a:xfrm>
          <a:prstGeom prst="rect">
            <a:avLst/>
          </a:prstGeom>
          <a:solidFill>
            <a:srgbClr val="1C7293"/>
          </a:solidFill>
          <a:ln w="19050">
            <a:solidFill>
              <a:srgbClr val="14B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34640" y="7772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SPA  :3000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Tailwind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399032"/>
            <a:ext cx="0" cy="256032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655064"/>
            <a:ext cx="3474720" cy="621792"/>
          </a:xfrm>
          <a:prstGeom prst="rect">
            <a:avLst/>
          </a:prstGeom>
          <a:solidFill>
            <a:srgbClr val="0D5A7A"/>
          </a:solidFill>
          <a:ln w="19050">
            <a:solidFill>
              <a:srgbClr val="0D7E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65506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:8000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· sse-starlette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2276856"/>
            <a:ext cx="0" cy="256032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32888"/>
            <a:ext cx="2011680" cy="566928"/>
          </a:xfrm>
          <a:prstGeom prst="rect">
            <a:avLst/>
          </a:prstGeom>
          <a:solidFill>
            <a:srgbClr val="21295C"/>
          </a:solidFill>
          <a:ln w="1905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5328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guard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2532888"/>
            <a:ext cx="3657600" cy="566928"/>
          </a:xfrm>
          <a:prstGeom prst="rect">
            <a:avLst/>
          </a:prstGeom>
          <a:solidFill>
            <a:srgbClr val="093352"/>
          </a:solidFill>
          <a:ln w="19050">
            <a:solidFill>
              <a:srgbClr val="14B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25328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NetFlowAgent Orchestrator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2532888"/>
            <a:ext cx="1965960" cy="566928"/>
          </a:xfrm>
          <a:prstGeom prst="rect">
            <a:avLst/>
          </a:prstGeom>
          <a:solidFill>
            <a:srgbClr val="21295C"/>
          </a:solidFill>
          <a:ln w="1905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53288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RentCast · FRED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099816"/>
            <a:ext cx="0" cy="256032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355848"/>
            <a:ext cx="2377440" cy="566928"/>
          </a:xfrm>
          <a:prstGeom prst="rect">
            <a:avLst/>
          </a:prstGeom>
          <a:solidFill>
            <a:srgbClr val="14526A"/>
          </a:solidFill>
          <a:ln w="19050">
            <a:solidFill>
              <a:srgbClr val="0D7E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3558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MarketAnalyst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MarketMemory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03120" y="3922776"/>
            <a:ext cx="0" cy="22860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3355848"/>
            <a:ext cx="2377440" cy="566928"/>
          </a:xfrm>
          <a:prstGeom prst="rect">
            <a:avLst/>
          </a:prstGeom>
          <a:solidFill>
            <a:srgbClr val="105F78"/>
          </a:solidFill>
          <a:ln w="19050">
            <a:solidFill>
              <a:srgbClr val="0D7E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20440" y="33558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PropertyScorer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AgentContext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3922776"/>
            <a:ext cx="0" cy="22860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355848"/>
            <a:ext cx="2377440" cy="566928"/>
          </a:xfrm>
          <a:prstGeom prst="rect">
            <a:avLst/>
          </a:prstGeom>
          <a:solidFill>
            <a:srgbClr val="0D4A61"/>
          </a:solidFill>
          <a:ln w="19050">
            <a:solidFill>
              <a:srgbClr val="0D7E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3558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RiskAdvisor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RiskCache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0" y="3922776"/>
            <a:ext cx="0" cy="22860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4151376"/>
            <a:ext cx="2377440" cy="566928"/>
          </a:xfrm>
          <a:prstGeom prst="rect">
            <a:avLst/>
          </a:prstGeom>
          <a:solidFill>
            <a:srgbClr val="1B3A4B"/>
          </a:solidFill>
          <a:ln w="19050">
            <a:solidFill>
              <a:srgbClr val="14B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03120" y="41513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:11434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4151376"/>
            <a:ext cx="2377440" cy="566928"/>
          </a:xfrm>
          <a:prstGeom prst="rect">
            <a:avLst/>
          </a:prstGeom>
          <a:solidFill>
            <a:srgbClr val="1B3A4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41513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+ Feedback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88920" cy="45720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uvicorn[standard]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2.8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0.3.7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0.1.147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0.27 (async)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tenacity 8.5 (retry)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777240"/>
            <a:ext cx="2788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777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32588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16.2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18.3 / TypeScript 5.6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(SSE consumer)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(favourites)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spell correct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777240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777240"/>
            <a:ext cx="2788920" cy="457200"/>
          </a:xfrm>
          <a:prstGeom prst="rect">
            <a:avLst/>
          </a:prstGeom>
          <a:solidFill>
            <a:srgbClr val="093352"/>
          </a:solidFill>
          <a:ln w="12700">
            <a:solidFill>
              <a:srgbClr val="0933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777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132588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v2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ollama/ollama:latest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 (~4.7 GB)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volume: ollama_data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netflow-net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1720" y="4572000"/>
            <a:ext cx="1572768" cy="38404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45720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rates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50792" y="4572000"/>
            <a:ext cx="1572768" cy="384048"/>
          </a:xfrm>
          <a:prstGeom prst="rect">
            <a:avLst/>
          </a:prstGeom>
          <a:solidFill>
            <a:srgbClr val="0D7EA0">
              <a:alpha val="15000"/>
            </a:srgbClr>
          </a:solidFill>
          <a:ln w="12700">
            <a:solidFill>
              <a:srgbClr val="0D7EA0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45720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RentCast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+ AVM rent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9864" y="4572000"/>
            <a:ext cx="1572768" cy="38404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9864" y="45720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+ feedback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88936" y="4572000"/>
            <a:ext cx="1572768" cy="384048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88936" y="45720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 — 8-Stage Orchestration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82296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05840"/>
            <a:ext cx="438912" cy="43891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8961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UserAgent.process()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ValidatedRequest — CPU only, 0 tokens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114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82296" cy="93268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1005840"/>
            <a:ext cx="438912" cy="438912"/>
          </a:xfrm>
          <a:prstGeom prst="ellipse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005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8961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MarketAnalystAgent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280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MarketContext — FRED + RentCast data fetch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4114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874520"/>
            <a:ext cx="82296" cy="9326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075688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1965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compute_financials() ×N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3500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listings — cap rate, cash flow, GRM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874520"/>
            <a:ext cx="4114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874520"/>
            <a:ext cx="82296" cy="9326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207568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1965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RiskAdvisorAgent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23500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RiskProfile per property — 1 batched LLM call (HIGH-risk)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44368"/>
            <a:ext cx="4114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44368"/>
            <a:ext cx="82296" cy="9326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" y="3145536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30358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PropertyScorerAgent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4198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ScoredProperty list — 1 batched LLM call for ai_score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44368"/>
            <a:ext cx="4114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44368"/>
            <a:ext cx="82296" cy="9326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3145536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0358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_rule_strategy_rerank()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34198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ranked list — deterministic, 0 tokens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014216"/>
            <a:ext cx="4114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4014216"/>
            <a:ext cx="82296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8912" y="421538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4215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0120" y="41056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emit_quality_feedback()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60120" y="44897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groundedness, correctness, confidence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4014216"/>
            <a:ext cx="4114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4014216"/>
            <a:ext cx="82296" cy="9326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19472" y="4215384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4215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40680" y="41056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stream_market_summary()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40680" y="44897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tokens streamed — 1 SSE call, ≤64 tokens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Sub-Agents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88920" cy="59436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77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MarketAnalystAgent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72821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· FRED service · RentCast service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1214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38658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MarketMemory — TTL 15 min per ZIP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7797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04495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 only — 2-sentence narrative, ≤64 tokens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34381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703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_rule_summary() — deterministic equivalent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40965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436168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MarketContext dataclass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77724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777240"/>
            <a:ext cx="2788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777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PropertyScorerAgent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1463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172821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AgentContext.enriched · mortgage rate · strategy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21214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238658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batched call — compact JSON keys c/cf/g/d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0128" y="27797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0128" y="304495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min(220, 30 + N × 18)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0128" y="34381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0128" y="3703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_rule_score_flat() — matches LLM rubric exactly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0128" y="40965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10128" y="436168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list[ScoredProperty] with ai_score 0–100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77724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777240"/>
            <a:ext cx="27889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777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RiskAdvisorAgent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1463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36208" y="172821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AgentContext.enriched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36208" y="21214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36208" y="238658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RiskCache — TTL 1 hr per ZIP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36208" y="27797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36208" y="304495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batched call for all HIGH-risk properties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36208" y="34381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cap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36208" y="3703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min(400, 30 + N × 50)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36208" y="40965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36208" y="436168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dict[address, RiskProfile]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 Model — Defense in Depth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1920240"/>
          </a:xfrm>
          <a:prstGeom prst="rect">
            <a:avLst/>
          </a:prstGeom>
          <a:solidFill>
            <a:srgbClr val="0F2233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420624"/>
          </a:xfrm>
          <a:prstGeom prst="rect">
            <a:avLst/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50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Input Guard (UserAgent Stage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8862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3–500 chars · null-byte check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injection regexes: jailbreak · SQL · shell · XSS · Python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Token-bucket rate limit: 10 req / 60 s / session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immediate reject, 0 LLM calls ever made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114800" cy="1920240"/>
          </a:xfrm>
          <a:prstGeom prst="rect">
            <a:avLst/>
          </a:prstGeom>
          <a:solidFill>
            <a:srgbClr val="0F2233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4114800" cy="420624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850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Sanitiser (UserAgent Stage 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8862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HTML-tag stripping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unicode normalisation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Control-char removal + whitespace collapse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07792"/>
            <a:ext cx="4114800" cy="1920240"/>
          </a:xfrm>
          <a:prstGeom prst="rect">
            <a:avLst/>
          </a:prstGeom>
          <a:solidFill>
            <a:srgbClr val="0F2233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07792"/>
            <a:ext cx="4114800" cy="420624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9535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Structural Isolation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401568"/>
            <a:ext cx="38862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never enters prompt templates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typed ValidatedRequest fields used downstream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907792"/>
            <a:ext cx="4114800" cy="1920240"/>
          </a:xfrm>
          <a:prstGeom prst="rect">
            <a:avLst/>
          </a:prstGeom>
          <a:solidFill>
            <a:srgbClr val="0F2233"/>
          </a:solidFill>
          <a:ln w="19050">
            <a:solidFill>
              <a:srgbClr val="0D7E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07792"/>
            <a:ext cx="4114800" cy="420624"/>
          </a:xfrm>
          <a:prstGeom prst="rect">
            <a:avLst/>
          </a:prstGeom>
          <a:solidFill>
            <a:srgbClr val="0D7EA0">
              <a:alpha val="70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9535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Transport Hardening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401568"/>
            <a:ext cx="38862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verified on all httpx calls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timeouts: RentCast 8 s · FRED 10 s · Ollama 60 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in .env — never echoed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Retry: 3× exp-backoff, connection errors only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 &amp; LLM Optimization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874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1874520" cy="54864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search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777240"/>
            <a:ext cx="1874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777240"/>
            <a:ext cx="1874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8412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1508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777240"/>
            <a:ext cx="1874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777240"/>
            <a:ext cx="18745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8412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stage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Breakdown (10 properties, 3 HIGH-risk)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5760720" cy="1828800"/>
        </p:xfrm>
        <a:graphic>
          <a:graphicData uri="http://schemas.openxmlformats.org/drawingml/2006/table">
            <a:tbl>
              <a:tblPr/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Scorer (batched)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7E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memos (batched)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narrative (streaming)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per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355080" y="777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Optimizations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55080" y="1188720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55080" y="1188720"/>
            <a:ext cx="54864" cy="65836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1243584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system prompts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 tok vs ~125 tok before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355080" y="1938528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55080" y="1938528"/>
            <a:ext cx="54864" cy="65836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64808" y="1993392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LLM calls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(N−1) round-trips saved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355080" y="2688336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55080" y="2688336"/>
            <a:ext cx="54864" cy="65836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64808" y="274320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num_predict caps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token ceiling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355080" y="3438144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355080" y="3438144"/>
            <a:ext cx="54864" cy="65836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64808" y="349300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JSON keys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c/cf/g/d — 4 chars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355080" y="4187952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355080" y="4187952"/>
            <a:ext cx="54864" cy="65836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64808" y="424281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prompt constants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rebuilt per request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Observability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Layers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64008" cy="621792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56432" y="1298448"/>
            <a:ext cx="640080" cy="274320"/>
          </a:xfrm>
          <a:prstGeom prst="ellipse">
            <a:avLst/>
          </a:prstGeom>
          <a:solidFill>
            <a:srgbClr val="0D7EA0">
              <a:alpha val="20000"/>
            </a:srgbClr>
          </a:solidFill>
          <a:ln w="12700">
            <a:solidFill>
              <a:srgbClr val="0D7EA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298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MarketMemory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27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ZIP — Reuse FRED rate + RentCast stats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38528"/>
            <a:ext cx="640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2029968"/>
            <a:ext cx="640080" cy="27432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0299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1993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RiskCache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2585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ZIP — Cross-request risk consistency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70048"/>
            <a:ext cx="6400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56432" y="2761488"/>
            <a:ext cx="640080" cy="27432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2761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724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rate cache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9900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Weekly-updating data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01568"/>
            <a:ext cx="6400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6432" y="3493008"/>
            <a:ext cx="640080" cy="2743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3493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RentCast rent cache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721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(addr, beds, baths) — Avoid duplicate AVM lookups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13308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133088"/>
            <a:ext cx="64008" cy="621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56432" y="4224528"/>
            <a:ext cx="640080" cy="27432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4224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187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result cache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453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search key — Skip backend round-trip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63440" y="1207008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Quality Signals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16276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1500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· Anchoring in retrieved listing facts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1500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· Agreement with deterministic rubric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0" y="23957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· 0.4·grounded + 0.35·correct + 0.25·(100−risk)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01752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54880" y="30906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Hierarchy (netflow.*)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3438144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 — request lifecycle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netflow.agent.market — MarketAnalystAgent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netflow.agent.scorer — PropertyScorerAgent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netflow.agent.risk — RiskAdvisorAgent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netflow.sse — SSE event stream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netflow.mcp — MCP server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Components &amp; Deployment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SearchPanel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453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ZIP/budget/beds/strategy + NLP prompt parser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8562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PropertyGrid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075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10-card grid · confidence pill · 👍 👎 feedback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4780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PropertyChat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697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Per-property grounded chat (ConversationMemory)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5409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30998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AIAnalysisCard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319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2-sentence market narrative (SSE)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3721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AgentPanel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941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timings · cache hits · token usage · fallbacks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ComparisonCharts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4562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Cap-rate / cash-flow / GRM distributions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777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118872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188720"/>
            <a:ext cx="64008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81728" y="15179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 GET /api/tags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1828800"/>
            <a:ext cx="0" cy="109728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1938528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1938528"/>
            <a:ext cx="6400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011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ollama-init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81728" y="2267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pull of llama3.1:8b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2578608"/>
            <a:ext cx="0" cy="109728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688336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2688336"/>
            <a:ext cx="64008" cy="640080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7614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81728" y="30175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 · depends on ollama-init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3328416"/>
            <a:ext cx="0" cy="109728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3438144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3438144"/>
            <a:ext cx="6400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3511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81728" y="37673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:3000 · depends on backend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4206240"/>
            <a:ext cx="4206240" cy="658368"/>
          </a:xfrm>
          <a:prstGeom prst="rect">
            <a:avLst/>
          </a:prstGeom>
          <a:solidFill>
            <a:srgbClr val="0B1F3A">
              <a:alpha val="85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2519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http://localhost:3000    API → http://localhost:8000    Docs → /docs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EA0"/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Principles &amp; Glossary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1097280"/>
          </a:xfrm>
          <a:prstGeom prst="rect">
            <a:avLst/>
          </a:prstGeom>
          <a:solidFill>
            <a:srgbClr val="0F2233"/>
          </a:solidFill>
          <a:ln w="12700">
            <a:solidFill>
              <a:srgbClr val="0D7E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33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896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Baseline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24358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stage has a rule-based fallback — system always responds, even when Ollama is offline.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114800" cy="1097280"/>
          </a:xfrm>
          <a:prstGeom prst="rect">
            <a:avLst/>
          </a:prstGeom>
          <a:solidFill>
            <a:srgbClr val="0F2233"/>
          </a:solidFill>
          <a:ln w="12700">
            <a:solidFill>
              <a:srgbClr val="0D7E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33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32120" y="896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Isolation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124358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user text never reaches an LLM — only typed ValidatedRequest fields.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4114800" cy="1097280"/>
          </a:xfrm>
          <a:prstGeom prst="rect">
            <a:avLst/>
          </a:prstGeom>
          <a:solidFill>
            <a:srgbClr val="0F2233"/>
          </a:solidFill>
          <a:ln w="12700">
            <a:solidFill>
              <a:srgbClr val="0D7E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267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51560" y="2130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Discipline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4780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JSON, batched calls, per-stage num_predict caps.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039112"/>
            <a:ext cx="4114800" cy="1097280"/>
          </a:xfrm>
          <a:prstGeom prst="rect">
            <a:avLst/>
          </a:prstGeom>
          <a:solidFill>
            <a:srgbClr val="0F2233"/>
          </a:solidFill>
          <a:ln w="12700">
            <a:solidFill>
              <a:srgbClr val="0D7E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267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32120" y="2130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at Every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24780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TTL-keyed memory for market data, risk profiles, conversation, RentCast, and FRED.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32918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÷ price × 100. Target ≥ 6%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0325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GRM: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4032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÷ annual rent. &lt; 100 excellent, &gt; 130 fair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361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on Market — seller motivation proxy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690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BRRRR: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4690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· Rehab · Rent · Refinance · Repeat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Valuation Model (RentCast rent endpoint)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0325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35040" y="4032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anchored in retrieved data vs. assumptions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361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0.4·grounded + 0.35·correct + 0.25·(100−risk)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4690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4690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— one-way HTTP streaming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D7EA0">
              <a:alpha val="10000"/>
            </a:srgbClr>
          </a:solidFill>
          <a:ln w="12700">
            <a:solidFill>
              <a:srgbClr val="0D7EA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4B8D4">
              <a:alpha val="8000"/>
            </a:srgbClr>
          </a:solidFill>
          <a:ln w="12700">
            <a:solidFill>
              <a:srgbClr val="14B8D4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645920"/>
            <a:ext cx="73152" cy="1828800"/>
          </a:xfrm>
          <a:prstGeom prst="rect">
            <a:avLst/>
          </a:prstGeom>
          <a:solidFill>
            <a:srgbClr val="14B8D4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net. Grow your portfolio.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 estate investment tool · Deterministic baseline · Defense in depth · &lt; 4 s latency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2286000" cy="548640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http://localhost:8000/docs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3977640"/>
            <a:ext cx="2286000" cy="548640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http://localhost:8000/health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06440" y="3977640"/>
            <a:ext cx="2286000" cy="548640"/>
          </a:xfrm>
          <a:prstGeom prst="rect">
            <a:avLst/>
          </a:prstGeom>
          <a:solidFill>
            <a:srgbClr val="0D7EA0">
              <a:alpha val="25000"/>
            </a:srgbClr>
          </a:solidFill>
          <a:ln w="12700">
            <a:solidFill>
              <a:srgbClr val="0D7E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http://localhost:8000/api/observability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NetFlow — Architecture &amp; Engineering Reference</dc:title>
  <dc:subject>PptxGenJS Presentation</dc:subject>
  <dc:creator>PptxGenJS</dc:creator>
  <cp:lastModifiedBy>PptxGenJS</cp:lastModifiedBy>
  <cp:revision>1</cp:revision>
  <dcterms:created xsi:type="dcterms:W3CDTF">2026-04-26T23:57:51Z</dcterms:created>
  <dcterms:modified xsi:type="dcterms:W3CDTF">2026-04-26T23:57:51Z</dcterms:modified>
</cp:coreProperties>
</file>